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  <p:sldMasterId id="2147483659" r:id="rId4"/>
  </p:sldMasterIdLst>
  <p:notesMasterIdLst>
    <p:notesMasterId r:id="rId6"/>
  </p:notesMasterIdLst>
  <p:sldIdLst>
    <p:sldId id="256" r:id="rId5"/>
    <p:sldId id="571" r:id="rId7"/>
    <p:sldId id="572" r:id="rId8"/>
    <p:sldId id="573" r:id="rId9"/>
    <p:sldId id="574" r:id="rId10"/>
    <p:sldId id="575" r:id="rId11"/>
    <p:sldId id="580" r:id="rId12"/>
    <p:sldId id="576" r:id="rId13"/>
    <p:sldId id="577" r:id="rId14"/>
    <p:sldId id="579" r:id="rId15"/>
    <p:sldId id="578" r:id="rId16"/>
    <p:sldId id="536" r:id="rId17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26" userDrawn="1">
          <p15:clr>
            <a:srgbClr val="A4A3A4"/>
          </p15:clr>
        </p15:guide>
        <p15:guide id="3" orient="horz" pos="9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 showGuides="1">
      <p:cViewPr>
        <p:scale>
          <a:sx n="70" d="100"/>
          <a:sy n="70" d="100"/>
        </p:scale>
        <p:origin x="1051" y="230"/>
      </p:cViewPr>
      <p:guideLst>
        <p:guide orient="horz" pos="672"/>
        <p:guide pos="326"/>
        <p:guide orient="horz" pos="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gs" Target="tags/tag5.xml"/><Relationship Id="rId21" Type="http://schemas.microsoft.com/office/2018/10/relationships/authors" Target="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altLang="en-GB" sz="5100" b="1" cap="all" dirty="0">
                <a:latin typeface="Aptos"/>
              </a:rPr>
              <a:t>Cardiac Risk Assessment via</a:t>
            </a:r>
            <a:r>
              <a:rPr lang="en-US" sz="5100" b="1" cap="all" dirty="0">
                <a:latin typeface="Aptos"/>
              </a:rPr>
              <a:t> Random Forest</a:t>
            </a:r>
            <a:endParaRPr lang="en-US" sz="51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rohan S 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UBDT College of engineering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en-US" sz="1600" b="1" cap="all" dirty="0" err="1"/>
              <a:t>cse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rohanrodu@gmail.com</a:t>
            </a:r>
            <a:endParaRPr lang="en-US" sz="1600" b="1" cap="all" dirty="0"/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IMG_20260119_2323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165" y="702945"/>
            <a:ext cx="5106035" cy="54692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Problem Statement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System Development Approach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 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Result (Output Image)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Conclusion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Future Scope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References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endParaRPr lang="en-US" sz="24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dirty="0">
                <a:latin typeface="Franklin Gothic Book" panose="020B0503020102020204"/>
              </a:rPr>
              <a:t>Cardiovascular diseases are the leading cause of morbidity and mortality globally.</a:t>
            </a:r>
            <a:endParaRPr lang="en-US" sz="2400" dirty="0">
              <a:latin typeface="Franklin Gothic Book" panose="020B0503020102020204"/>
            </a:endParaRPr>
          </a:p>
          <a:p>
            <a:pPr algn="just"/>
            <a:r>
              <a:rPr lang="en-US" sz="2400" dirty="0">
                <a:latin typeface="Franklin Gothic Book" panose="020B0503020102020204"/>
              </a:rPr>
              <a:t>The Challenge: Early detection is crucial to save lives, but manual diagnosis based on multiple clinical markers (cholesterol, blood pressure, heart rate) can be complex and prone to human error.</a:t>
            </a:r>
            <a:endParaRPr lang="en-US" sz="2400" dirty="0">
              <a:latin typeface="Franklin Gothic Book" panose="020B0503020102020204"/>
            </a:endParaRPr>
          </a:p>
          <a:p>
            <a:pPr algn="just"/>
            <a:r>
              <a:rPr lang="en-US" sz="2400" dirty="0">
                <a:latin typeface="Franklin Gothic Book" panose="020B0503020102020204"/>
              </a:rPr>
              <a:t>The Gap: There is a need for an automated, highly accurate tool that can process patient data and provide a reliable risk assessment.</a:t>
            </a:r>
            <a:endParaRPr lang="en-US" sz="24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" y="68072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786255"/>
            <a:ext cx="10515600" cy="37699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IN" sz="2400" b="1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Data Driven: </a:t>
            </a:r>
            <a:r>
              <a:rPr 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Leveraging the Heart Disease Dataset (UCI Repository) featuring 1</a:t>
            </a:r>
            <a:r>
              <a:rPr lang="en-US" alt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3</a:t>
            </a:r>
            <a:r>
              <a:rPr 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 clinical attributes.</a:t>
            </a:r>
            <a:endParaRPr lang="en-IN" sz="24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IN" sz="2400" b="1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Preprocessing: </a:t>
            </a:r>
            <a:r>
              <a:rPr 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Standardizing target variables and splitting data into Training (8</a:t>
            </a:r>
            <a:r>
              <a:rPr lang="en-US" alt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0</a:t>
            </a:r>
            <a:r>
              <a:rPr 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%) and Testing (</a:t>
            </a:r>
            <a:r>
              <a:rPr lang="en-US" alt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20</a:t>
            </a:r>
            <a:r>
              <a:rPr 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%) sets for robust validation.</a:t>
            </a:r>
            <a:endParaRPr lang="en-IN" sz="24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IN" sz="2400" b="1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Optimization: </a:t>
            </a:r>
            <a:r>
              <a:rPr 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Utilizing </a:t>
            </a:r>
            <a:r>
              <a:rPr lang="en-IN" sz="2400" dirty="0" err="1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GridSearchCV</a:t>
            </a:r>
            <a:r>
              <a:rPr 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 to find the absolute best model parameters rather than using default settings.</a:t>
            </a:r>
            <a:endParaRPr lang="en-IN" sz="24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IN" sz="2400" b="1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Interface: </a:t>
            </a:r>
            <a:r>
              <a:rPr 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A specialized prediction function (</a:t>
            </a:r>
            <a:r>
              <a:rPr lang="en-IN" sz="2400" dirty="0" err="1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check_patient</a:t>
            </a:r>
            <a:r>
              <a:rPr lang="en-IN" sz="24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) to allow healthcare providers to input new patient data for instant diagnosis.</a:t>
            </a:r>
            <a:endParaRPr lang="en-IN" sz="24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b="1" dirty="0">
                <a:latin typeface="Franklin Gothic Book" panose="020B0503020102020204" pitchFamily="34" charset="0"/>
              </a:rPr>
              <a:t>System Requirements: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dirty="0">
                <a:latin typeface="Franklin Gothic Book" panose="020B0503020102020204" pitchFamily="34" charset="0"/>
              </a:rPr>
              <a:t>Python 3.x Environment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dirty="0" err="1">
                <a:latin typeface="Franklin Gothic Book" panose="020B0503020102020204" pitchFamily="34" charset="0"/>
              </a:rPr>
              <a:t>Jupyter</a:t>
            </a:r>
            <a:r>
              <a:rPr lang="en-IN" dirty="0">
                <a:latin typeface="Franklin Gothic Book" panose="020B0503020102020204" pitchFamily="34" charset="0"/>
              </a:rPr>
              <a:t> Notebook or VS Code</a:t>
            </a:r>
            <a:r>
              <a:rPr lang="en-US" altLang="en-IN" dirty="0">
                <a:latin typeface="Franklin Gothic Book" panose="020B0503020102020204" pitchFamily="34" charset="0"/>
              </a:rPr>
              <a:t> or Google colab</a:t>
            </a:r>
            <a:endParaRPr lang="en-IN" dirty="0">
              <a:latin typeface="Franklin Gothic Book" panose="020B0503020102020204" pitchFamily="34" charset="0"/>
            </a:endParaRPr>
          </a:p>
          <a:p>
            <a:r>
              <a:rPr lang="en-IN" b="1" dirty="0">
                <a:latin typeface="Franklin Gothic Book" panose="020B0503020102020204" pitchFamily="34" charset="0"/>
              </a:rPr>
              <a:t>Libraries Required: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dirty="0">
                <a:latin typeface="Franklin Gothic Book" panose="020B0503020102020204" pitchFamily="34" charset="0"/>
              </a:rPr>
              <a:t>Pandas: For data manipulation and CSV handling.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dirty="0">
                <a:latin typeface="Franklin Gothic Book" panose="020B0503020102020204" pitchFamily="34" charset="0"/>
              </a:rPr>
              <a:t>NumPy: For numerical computations and array processing.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dirty="0">
                <a:latin typeface="Franklin Gothic Book" panose="020B0503020102020204" pitchFamily="34" charset="0"/>
              </a:rPr>
              <a:t>Scikit-learn: For the Random Forest algorithm, </a:t>
            </a:r>
            <a:r>
              <a:rPr lang="en-IN" dirty="0" err="1">
                <a:latin typeface="Franklin Gothic Book" panose="020B0503020102020204" pitchFamily="34" charset="0"/>
              </a:rPr>
              <a:t>GridSearchCV</a:t>
            </a:r>
            <a:r>
              <a:rPr lang="en-IN" dirty="0">
                <a:latin typeface="Franklin Gothic Book" panose="020B0503020102020204" pitchFamily="34" charset="0"/>
              </a:rPr>
              <a:t>, and performance metrics.</a:t>
            </a:r>
            <a:endParaRPr lang="en-IN" dirty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b="1" dirty="0">
                <a:latin typeface="Franklin Gothic Book" panose="020B0503020102020204" pitchFamily="34" charset="0"/>
              </a:rPr>
              <a:t>Algorithm Selection:</a:t>
            </a:r>
            <a:r>
              <a:rPr lang="en-IN" dirty="0">
                <a:latin typeface="Franklin Gothic Book" panose="020B0503020102020204" pitchFamily="34" charset="0"/>
              </a:rPr>
              <a:t> </a:t>
            </a:r>
            <a:r>
              <a:rPr lang="en-IN" b="1" dirty="0">
                <a:latin typeface="Franklin Gothic Book" panose="020B0503020102020204" pitchFamily="34" charset="0"/>
              </a:rPr>
              <a:t>Random Forest Classifier</a:t>
            </a:r>
            <a:r>
              <a:rPr lang="en-IN" dirty="0">
                <a:latin typeface="Franklin Gothic Book" panose="020B0503020102020204" pitchFamily="34" charset="0"/>
              </a:rPr>
              <a:t>.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i="1" dirty="0">
                <a:latin typeface="Franklin Gothic Book" panose="020B0503020102020204" pitchFamily="34" charset="0"/>
              </a:rPr>
              <a:t>Why?</a:t>
            </a:r>
            <a:r>
              <a:rPr lang="en-IN" dirty="0">
                <a:latin typeface="Franklin Gothic Book" panose="020B0503020102020204" pitchFamily="34" charset="0"/>
              </a:rPr>
              <a:t> It handles complex non-linear relationships and prevents overfitting via ensemble learning (bagging).</a:t>
            </a:r>
            <a:endParaRPr lang="en-IN" dirty="0">
              <a:latin typeface="Franklin Gothic Book" panose="020B0503020102020204" pitchFamily="34" charset="0"/>
            </a:endParaRPr>
          </a:p>
          <a:p>
            <a:r>
              <a:rPr lang="en-IN" b="1" dirty="0">
                <a:latin typeface="Franklin Gothic Book" panose="020B0503020102020204" pitchFamily="34" charset="0"/>
              </a:rPr>
              <a:t>Training Process: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b="1" dirty="0">
                <a:latin typeface="Franklin Gothic Book" panose="020B0503020102020204" pitchFamily="34" charset="0"/>
              </a:rPr>
              <a:t>Hyperparameter Tuning:</a:t>
            </a:r>
            <a:r>
              <a:rPr lang="en-IN" dirty="0">
                <a:latin typeface="Franklin Gothic Book" panose="020B0503020102020204" pitchFamily="34" charset="0"/>
              </a:rPr>
              <a:t> Tested </a:t>
            </a:r>
            <a:r>
              <a:rPr lang="en-IN" dirty="0" err="1">
                <a:latin typeface="Franklin Gothic Book" panose="020B0503020102020204" pitchFamily="34" charset="0"/>
              </a:rPr>
              <a:t>n_estimators</a:t>
            </a:r>
            <a:r>
              <a:rPr lang="en-IN" dirty="0">
                <a:latin typeface="Franklin Gothic Book" panose="020B0503020102020204" pitchFamily="34" charset="0"/>
              </a:rPr>
              <a:t> (100, 200), </a:t>
            </a:r>
            <a:r>
              <a:rPr lang="en-IN" dirty="0" err="1">
                <a:latin typeface="Franklin Gothic Book" panose="020B0503020102020204" pitchFamily="34" charset="0"/>
              </a:rPr>
              <a:t>max_depth</a:t>
            </a:r>
            <a:r>
              <a:rPr lang="en-IN" dirty="0">
                <a:latin typeface="Franklin Gothic Book" panose="020B0503020102020204" pitchFamily="34" charset="0"/>
              </a:rPr>
              <a:t> (10, 20), and </a:t>
            </a:r>
            <a:r>
              <a:rPr lang="en-IN" dirty="0" err="1">
                <a:latin typeface="Franklin Gothic Book" panose="020B0503020102020204" pitchFamily="34" charset="0"/>
              </a:rPr>
              <a:t>min_samples_split</a:t>
            </a:r>
            <a:r>
              <a:rPr lang="en-IN" dirty="0">
                <a:latin typeface="Franklin Gothic Book" panose="020B0503020102020204" pitchFamily="34" charset="0"/>
              </a:rPr>
              <a:t>.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b="1" dirty="0">
                <a:latin typeface="Franklin Gothic Book" panose="020B0503020102020204" pitchFamily="34" charset="0"/>
              </a:rPr>
              <a:t>Best Parameters Found:</a:t>
            </a:r>
            <a:r>
              <a:rPr lang="en-IN" dirty="0">
                <a:latin typeface="Franklin Gothic Book" panose="020B0503020102020204" pitchFamily="34" charset="0"/>
              </a:rPr>
              <a:t> </a:t>
            </a:r>
            <a:r>
              <a:rPr lang="en-IN" dirty="0" err="1">
                <a:latin typeface="Franklin Gothic Book" panose="020B0503020102020204" pitchFamily="34" charset="0"/>
              </a:rPr>
              <a:t>max_depth</a:t>
            </a:r>
            <a:r>
              <a:rPr lang="en-IN" dirty="0">
                <a:latin typeface="Franklin Gothic Book" panose="020B0503020102020204" pitchFamily="34" charset="0"/>
              </a:rPr>
              <a:t>: None, </a:t>
            </a:r>
            <a:r>
              <a:rPr lang="en-IN" dirty="0" err="1">
                <a:latin typeface="Franklin Gothic Book" panose="020B0503020102020204" pitchFamily="34" charset="0"/>
              </a:rPr>
              <a:t>max_features</a:t>
            </a:r>
            <a:r>
              <a:rPr lang="en-IN" dirty="0">
                <a:latin typeface="Franklin Gothic Book" panose="020B0503020102020204" pitchFamily="34" charset="0"/>
              </a:rPr>
              <a:t>: 'sqrt', </a:t>
            </a:r>
            <a:r>
              <a:rPr lang="en-IN" dirty="0" err="1">
                <a:latin typeface="Franklin Gothic Book" panose="020B0503020102020204" pitchFamily="34" charset="0"/>
              </a:rPr>
              <a:t>min_samples_leaf</a:t>
            </a:r>
            <a:r>
              <a:rPr lang="en-IN" dirty="0">
                <a:latin typeface="Franklin Gothic Book" panose="020B0503020102020204" pitchFamily="34" charset="0"/>
              </a:rPr>
              <a:t>: 1, </a:t>
            </a:r>
            <a:r>
              <a:rPr lang="en-IN" dirty="0" err="1">
                <a:latin typeface="Franklin Gothic Book" panose="020B0503020102020204" pitchFamily="34" charset="0"/>
              </a:rPr>
              <a:t>n_estimators</a:t>
            </a:r>
            <a:r>
              <a:rPr lang="en-IN" dirty="0">
                <a:latin typeface="Franklin Gothic Book" panose="020B0503020102020204" pitchFamily="34" charset="0"/>
              </a:rPr>
              <a:t>: 100.</a:t>
            </a:r>
            <a:endParaRPr lang="en-IN" dirty="0">
              <a:latin typeface="Franklin Gothic Book" panose="020B0503020102020204" pitchFamily="34" charset="0"/>
            </a:endParaRPr>
          </a:p>
          <a:p>
            <a:r>
              <a:rPr lang="en-IN" b="1" dirty="0">
                <a:latin typeface="Franklin Gothic Book" panose="020B0503020102020204" pitchFamily="34" charset="0"/>
              </a:rPr>
              <a:t>Validation:</a:t>
            </a:r>
            <a:r>
              <a:rPr lang="en-IN" dirty="0">
                <a:latin typeface="Franklin Gothic Book" panose="020B0503020102020204" pitchFamily="34" charset="0"/>
              </a:rPr>
              <a:t> </a:t>
            </a:r>
            <a:r>
              <a:rPr lang="en-IN" sz="2400" dirty="0">
                <a:latin typeface="Franklin Gothic Book" panose="020B0503020102020204" pitchFamily="34" charset="0"/>
              </a:rPr>
              <a:t>Performed 5-fold Cross-Validation to ensure the model performs consistently across different data slices.</a:t>
            </a:r>
            <a:endParaRPr lang="en-IN" sz="2400" dirty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61035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pic>
        <p:nvPicPr>
          <p:cNvPr id="3" name="Picture 2" descr="Screenshot 2026-01-19 2301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1404620"/>
            <a:ext cx="12192000" cy="3690620"/>
          </a:xfrm>
          <a:prstGeom prst="rect">
            <a:avLst/>
          </a:prstGeom>
        </p:spPr>
      </p:pic>
      <p:pic>
        <p:nvPicPr>
          <p:cNvPr id="4" name="Picture 3" descr="Screenshot 2026-01-19 230139"/>
          <p:cNvPicPr>
            <a:picLocks noChangeAspect="1"/>
          </p:cNvPicPr>
          <p:nvPr/>
        </p:nvPicPr>
        <p:blipFill>
          <a:blip r:embed="rId2"/>
          <a:srcRect t="4128" r="16084" b="5784"/>
          <a:stretch>
            <a:fillRect/>
          </a:stretch>
        </p:blipFill>
        <p:spPr>
          <a:xfrm>
            <a:off x="6217285" y="3258820"/>
            <a:ext cx="5059045" cy="27298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Text Box 4"/>
          <p:cNvSpPr txBox="1"/>
          <p:nvPr/>
        </p:nvSpPr>
        <p:spPr>
          <a:xfrm>
            <a:off x="2967355" y="6066790"/>
            <a:ext cx="45777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en-GB">
                <a:sym typeface="+mn-ea"/>
              </a:rPr>
              <a:t>Output in Google colab/Jupyter Notebook</a:t>
            </a:r>
            <a:endParaRPr lang="en-US" altLang="en-GB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0085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6" t="12740" r="21923" b="4255"/>
          <a:stretch>
            <a:fillRect/>
          </a:stretch>
        </p:blipFill>
        <p:spPr>
          <a:xfrm>
            <a:off x="2373630" y="1409065"/>
            <a:ext cx="7444740" cy="46094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995545" y="6191885"/>
            <a:ext cx="2200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GB"/>
              <a:t>Output in VS CODE 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" y="67364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dirty="0">
                <a:latin typeface="Franklin Gothic Book" panose="020B0503020102020204"/>
              </a:rPr>
              <a:t>The Random Forest model achieved a high accuracy of 90.74%, making it a viable tool for clinical assistance.</a:t>
            </a:r>
            <a:endParaRPr lang="en-US" sz="2400" dirty="0">
              <a:latin typeface="Franklin Gothic Book" panose="020B0503020102020204"/>
            </a:endParaRPr>
          </a:p>
          <a:p>
            <a:pPr algn="just"/>
            <a:r>
              <a:rPr lang="en-US" sz="2400" dirty="0">
                <a:latin typeface="Franklin Gothic Book" panose="020B0503020102020204"/>
              </a:rPr>
              <a:t>The project demonstrates that ensemble learning techniques significantly outperform single decision trees in medical diagnostics.</a:t>
            </a:r>
            <a:endParaRPr lang="en-US" sz="2400" dirty="0">
              <a:latin typeface="Franklin Gothic Book" panose="020B0503020102020204"/>
            </a:endParaRPr>
          </a:p>
          <a:p>
            <a:pPr algn="just"/>
            <a:r>
              <a:rPr lang="en-US" sz="2400" dirty="0">
                <a:latin typeface="Franklin Gothic Book" panose="020B0503020102020204"/>
              </a:rPr>
              <a:t>Automated prediction helps in identifying high-risk patients early, allowing for preventative lifestyle changes or medical intervention.</a:t>
            </a:r>
            <a:endParaRPr lang="en-US" sz="24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" y="683169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970" y="1486535"/>
            <a:ext cx="10515600" cy="4069715"/>
          </a:xfrm>
        </p:spPr>
        <p:txBody>
          <a:bodyPr vert="horz" lIns="91440" tIns="45720" rIns="91440" bIns="45720" rtlCol="0">
            <a:normAutofit/>
          </a:bodyPr>
          <a:lstStyle/>
          <a:p>
            <a:pPr algn="just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Franklin Gothic Book" panose="020B0503020102020204"/>
              </a:rPr>
              <a:t>Web Integration: </a:t>
            </a:r>
            <a:r>
              <a:rPr lang="en-US" sz="2400" dirty="0">
                <a:latin typeface="Franklin Gothic Book" panose="020B0503020102020204"/>
              </a:rPr>
              <a:t>Deploying the model using the Flask web framework to create a user-friendly hospital portal.</a:t>
            </a:r>
            <a:endParaRPr lang="en-US" sz="2400" dirty="0">
              <a:latin typeface="Franklin Gothic Book" panose="020B0503020102020204"/>
            </a:endParaRPr>
          </a:p>
          <a:p>
            <a:pPr algn="just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Franklin Gothic Book" panose="020B0503020102020204"/>
              </a:rPr>
              <a:t>Deep Learning:</a:t>
            </a:r>
            <a:r>
              <a:rPr lang="en-US" sz="2400" dirty="0">
                <a:latin typeface="Franklin Gothic Book" panose="020B0503020102020204"/>
              </a:rPr>
              <a:t> Exploring Neural Networks to further increase accuracy as more data becomes available.</a:t>
            </a:r>
            <a:endParaRPr lang="en-US" sz="2400" dirty="0">
              <a:latin typeface="Franklin Gothic Book" panose="020B0503020102020204"/>
            </a:endParaRPr>
          </a:p>
          <a:p>
            <a:pPr algn="just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Franklin Gothic Book" panose="020B0503020102020204"/>
              </a:rPr>
              <a:t>Real-time Monitoring:</a:t>
            </a:r>
            <a:r>
              <a:rPr lang="en-US" sz="2400" dirty="0">
                <a:latin typeface="Franklin Gothic Book" panose="020B0503020102020204"/>
              </a:rPr>
              <a:t> Integrating with IoT devices (like smartwatches) and Arduino-based sensors to monitor heart health 24/7.</a:t>
            </a:r>
            <a:endParaRPr lang="en-US" sz="2400" dirty="0">
              <a:latin typeface="Franklin Gothic Book" panose="020B0503020102020204"/>
            </a:endParaRPr>
          </a:p>
          <a:p>
            <a:pPr algn="just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Franklin Gothic Book" panose="020B0503020102020204"/>
              </a:rPr>
              <a:t>Feature Expansion: </a:t>
            </a:r>
            <a:r>
              <a:rPr lang="en-US" sz="2400" dirty="0">
                <a:latin typeface="Franklin Gothic Book" panose="020B0503020102020204"/>
              </a:rPr>
              <a:t>Adding lifestyle factors like stress levels, smoking habits, and genetic history for more comprehensive analysis.</a:t>
            </a:r>
            <a:endParaRPr lang="en-US" sz="24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7364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References: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 err="1">
                <a:latin typeface="Franklin Gothic Book" panose="020B0503020102020204"/>
              </a:rPr>
              <a:t>Rajdhan</a:t>
            </a:r>
            <a:r>
              <a:rPr lang="en-IN" sz="2400" dirty="0">
                <a:latin typeface="Franklin Gothic Book" panose="020B0503020102020204"/>
              </a:rPr>
              <a:t>, A. et al. (2020): "Heart Disease Prediction using Machine Learning," IJERT, vol. 09.</a:t>
            </a:r>
            <a:endParaRPr lang="en-IN" sz="2400" dirty="0">
              <a:latin typeface="Franklin Gothic Book" panose="020B0503020102020204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Franklin Gothic Book" panose="020B0503020102020204"/>
              </a:rPr>
              <a:t>UCI Machine Learning Repository: </a:t>
            </a:r>
            <a:r>
              <a:rPr lang="en-IN" sz="2400" dirty="0" err="1">
                <a:latin typeface="Franklin Gothic Book" panose="020B0503020102020204"/>
              </a:rPr>
              <a:t>Statlog</a:t>
            </a:r>
            <a:r>
              <a:rPr lang="en-IN" sz="2400" dirty="0">
                <a:latin typeface="Franklin Gothic Book" panose="020B0503020102020204"/>
              </a:rPr>
              <a:t> (Heart) Data Set, 2017.</a:t>
            </a:r>
            <a:endParaRPr lang="en-IN" sz="2400" dirty="0">
              <a:latin typeface="Franklin Gothic Book" panose="020B0503020102020204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Franklin Gothic Book" panose="020B0503020102020204"/>
              </a:rPr>
              <a:t>Mohan, S. et al. (2019): "Effective heart disease prediction using hybrid machine learning techniques," IEEE Access.</a:t>
            </a:r>
            <a:endParaRPr lang="en-IN" sz="2400" dirty="0">
              <a:latin typeface="Franklin Gothic Book" panose="020B0503020102020204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Franklin Gothic Book" panose="020B0503020102020204"/>
              </a:rPr>
              <a:t>Singh, V. K. et al. (2017): "Heart Disease Prediction System Using Random Forest," Advances in Computing and Data Sciences.</a:t>
            </a:r>
            <a:endParaRPr lang="en-IN" sz="2400" dirty="0"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4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IN" sz="2400" dirty="0">
                <a:latin typeface="Franklin Gothic Book" panose="020B0503020102020204"/>
              </a:rPr>
              <a:t>GitHub Link:</a:t>
            </a:r>
            <a:r>
              <a:rPr lang="en-IN" sz="2400" dirty="0">
                <a:solidFill>
                  <a:srgbClr val="0070C0"/>
                </a:solidFill>
                <a:latin typeface="Franklin Gothic Book" panose="020B0503020102020204"/>
              </a:rPr>
              <a:t> </a:t>
            </a:r>
            <a:r>
              <a:rPr lang="en-US" altLang="en-GB" sz="2400" u="sng" dirty="0">
                <a:solidFill>
                  <a:srgbClr val="0070C0"/>
                </a:solidFill>
                <a:latin typeface="Franklin Gothic Book" panose="020B0503020102020204"/>
              </a:rPr>
              <a:t>https://github.com/rohanrodu/Cardiac-Risk-Assessment-via-Random-Forest</a:t>
            </a:r>
            <a:endParaRPr lang="en-US" altLang="en-GB" sz="24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4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400" u="sng" dirty="0">
              <a:solidFill>
                <a:srgbClr val="0070C0"/>
              </a:solidFill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  <a:endParaRPr lang="en-US" sz="4800" b="1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DESIGN_ID_1_OFFICE THEME" val="TmdBxN3j"/>
  <p:tag name="ARTICULATE_PROJECT_OPEN" val="0"/>
  <p:tag name="ARTICULATE_SLIDE_COUNT" val="9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3511</Words>
  <Application>WPS Presentation</Application>
  <PresentationFormat>Widescreen</PresentationFormat>
  <Paragraphs>88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SimSun</vt:lpstr>
      <vt:lpstr>Wingdings</vt:lpstr>
      <vt:lpstr>Aptos</vt:lpstr>
      <vt:lpstr>Segoe UI</vt:lpstr>
      <vt:lpstr>Arial</vt:lpstr>
      <vt:lpstr>Franklin Gothic Book</vt:lpstr>
      <vt:lpstr>Franklin Gothic Book</vt:lpstr>
      <vt:lpstr>Calibri</vt:lpstr>
      <vt:lpstr>Aptos Display</vt:lpstr>
      <vt:lpstr>Segoe UI Variable Display</vt:lpstr>
      <vt:lpstr>Microsoft YaHei</vt:lpstr>
      <vt:lpstr>Arial Unicode MS</vt:lpstr>
      <vt:lpstr>Aptos</vt:lpstr>
      <vt:lpstr>1_Office Theme</vt:lpstr>
      <vt:lpstr>Custom Design</vt:lpstr>
      <vt:lpstr>2_Office Theme</vt:lpstr>
      <vt:lpstr>PowerPoint 演示文稿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Result:</vt:lpstr>
      <vt:lpstr>Conclusion:</vt:lpstr>
      <vt:lpstr>Future scope:</vt:lpstr>
      <vt:lpstr>References: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Muttu Mama</cp:lastModifiedBy>
  <cp:revision>116</cp:revision>
  <dcterms:created xsi:type="dcterms:W3CDTF">2024-05-21T11:55:00Z</dcterms:created>
  <dcterms:modified xsi:type="dcterms:W3CDTF">2026-01-19T18:05:00Z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FB875E0286494907903A59C44CAA47F2_13</vt:lpwstr>
  </property>
  <property fmtid="{D5CDD505-2E9C-101B-9397-08002B2CF9AE}" pid="5" name="KSOProductBuildVer">
    <vt:lpwstr>2057-12.2.0.23197</vt:lpwstr>
  </property>
</Properties>
</file>